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1042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85f95b7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85f95b7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85f95b7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85f95b7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85f95b7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85f95b7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85f95b71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85f95b71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85f95b716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85f95b716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85f95b71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85f95b716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85f95b716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85f95b716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85f95b716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85f95b716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85f95b716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85f95b716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85f95b716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85f95b716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85f95b716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85f95b716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85f95b716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85f95b716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85f95b716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85f95b716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85f95b716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85f95b716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85f95b716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85f95b716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85f95b716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685f95b716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85f95b716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85f95b716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85f95b716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85f95b716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674050"/>
            <a:ext cx="8520600" cy="3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988" b="1"/>
              <a:t>Airline Data Challenge</a:t>
            </a:r>
            <a:endParaRPr sz="3988" b="1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 b="1"/>
            </a:br>
            <a:r>
              <a:rPr lang="en" sz="1100"/>
              <a:t> </a:t>
            </a:r>
            <a:r>
              <a:rPr lang="en" sz="1544" i="1"/>
              <a:t>Presented by: Sathvika Anugu</a:t>
            </a:r>
            <a:br>
              <a:rPr lang="en" sz="1550" i="1"/>
            </a:br>
            <a:r>
              <a:rPr lang="en" sz="1550"/>
              <a:t> </a:t>
            </a:r>
            <a:r>
              <a:rPr lang="en" sz="1550" i="1"/>
              <a:t>Purpose:</a:t>
            </a:r>
            <a:r>
              <a:rPr lang="en" sz="1550"/>
              <a:t> Showcase data-driven route analysis, quality control, and investment recommendations.</a:t>
            </a:r>
            <a:endParaRPr sz="155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87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Agenda</a:t>
            </a:r>
            <a:endParaRPr b="1"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794875"/>
            <a:ext cx="8520600" cy="38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Project Overview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Key Data Fields &amp; Metrics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Data Quality Insights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Top Routes &amp; Profitability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Visual Analytics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KPIs &amp; Recommendations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Technical Workflow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Q&amp;A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Project Objectives</a:t>
            </a:r>
            <a:endParaRPr b="1"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Maximize profitability by identifying top-performing routes and top routes to invest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Ensure data integrity through quality checks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Generate investment recommendations based on analytics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Establish KPIs to track future performance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Key Derived Metrics</a:t>
            </a:r>
            <a:endParaRPr b="1"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21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"/>
              <a:buChar char="-"/>
            </a:pPr>
            <a:r>
              <a:rPr lang="en" sz="1490" b="1">
                <a:solidFill>
                  <a:schemeClr val="dk1"/>
                </a:solidFill>
              </a:rPr>
              <a:t>AIRPORT_COST</a:t>
            </a:r>
            <a:r>
              <a:rPr lang="en" sz="1490">
                <a:solidFill>
                  <a:schemeClr val="dk1"/>
                </a:solidFill>
              </a:rPr>
              <a:t> = ORIGIN_FEE + DEST_FEE</a:t>
            </a:r>
            <a:endParaRPr sz="149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490">
              <a:solidFill>
                <a:schemeClr val="dk1"/>
              </a:solidFill>
            </a:endParaRPr>
          </a:p>
          <a:p>
            <a:pPr marL="457200" lvl="0" indent="-32321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90"/>
              <a:buChar char="-"/>
            </a:pPr>
            <a:r>
              <a:rPr lang="en" sz="1490" b="1">
                <a:solidFill>
                  <a:schemeClr val="dk1"/>
                </a:solidFill>
              </a:rPr>
              <a:t>DELAY_COST</a:t>
            </a:r>
            <a:r>
              <a:rPr lang="en" sz="1490">
                <a:solidFill>
                  <a:schemeClr val="dk1"/>
                </a:solidFill>
              </a:rPr>
              <a:t> = DELAY_MINUTES × cost/min</a:t>
            </a:r>
            <a:endParaRPr sz="149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490">
              <a:solidFill>
                <a:schemeClr val="dk1"/>
              </a:solidFill>
            </a:endParaRPr>
          </a:p>
          <a:p>
            <a:pPr marL="457200" lvl="0" indent="-32321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90"/>
              <a:buChar char="-"/>
            </a:pPr>
            <a:r>
              <a:rPr lang="en" sz="1490" b="1">
                <a:solidFill>
                  <a:schemeClr val="dk1"/>
                </a:solidFill>
              </a:rPr>
              <a:t>TOTAL_COST</a:t>
            </a:r>
            <a:r>
              <a:rPr lang="en" sz="1490">
                <a:solidFill>
                  <a:schemeClr val="dk1"/>
                </a:solidFill>
              </a:rPr>
              <a:t> = delay + mileage + fees</a:t>
            </a:r>
            <a:endParaRPr sz="149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490">
              <a:solidFill>
                <a:schemeClr val="dk1"/>
              </a:solidFill>
            </a:endParaRPr>
          </a:p>
          <a:p>
            <a:pPr marL="457200" lvl="0" indent="-32321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90"/>
              <a:buChar char="-"/>
            </a:pPr>
            <a:r>
              <a:rPr lang="en" sz="1490" b="1">
                <a:solidFill>
                  <a:schemeClr val="dk1"/>
                </a:solidFill>
              </a:rPr>
              <a:t>TOTAL_REVENUE</a:t>
            </a:r>
            <a:r>
              <a:rPr lang="en" sz="1490">
                <a:solidFill>
                  <a:schemeClr val="dk1"/>
                </a:solidFill>
              </a:rPr>
              <a:t> = TICKET_REVENUE + BAGGAGE_REVENUE</a:t>
            </a:r>
            <a:endParaRPr sz="149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490">
              <a:solidFill>
                <a:schemeClr val="dk1"/>
              </a:solidFill>
            </a:endParaRPr>
          </a:p>
          <a:p>
            <a:pPr marL="457200" lvl="0" indent="-32321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90"/>
              <a:buChar char="-"/>
            </a:pPr>
            <a:r>
              <a:rPr lang="en" sz="1490" b="1">
                <a:solidFill>
                  <a:schemeClr val="dk1"/>
                </a:solidFill>
              </a:rPr>
              <a:t>PROFIT</a:t>
            </a:r>
            <a:r>
              <a:rPr lang="en" sz="1490">
                <a:solidFill>
                  <a:schemeClr val="dk1"/>
                </a:solidFill>
              </a:rPr>
              <a:t> = TOTAL_REVENUE − TOTAL_COST</a:t>
            </a:r>
            <a:endParaRPr sz="149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57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Data Quality Issues:</a:t>
            </a:r>
            <a:endParaRPr b="1"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58675" y="1187700"/>
            <a:ext cx="8520600" cy="3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“Any model is only as good as its data, so I focused on four quality issues: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 b="1">
                <a:solidFill>
                  <a:schemeClr val="dk1"/>
                </a:solidFill>
              </a:rPr>
              <a:t>Missing delay or airtime data</a:t>
            </a:r>
            <a:r>
              <a:rPr lang="en" sz="1500">
                <a:solidFill>
                  <a:schemeClr val="dk1"/>
                </a:solidFill>
              </a:rPr>
              <a:t> – I dropped these to avoid skewed delay/cost estimates, though I stayed aware of bias toward better flights.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 b="1">
                <a:solidFill>
                  <a:schemeClr val="dk1"/>
                </a:solidFill>
              </a:rPr>
              <a:t>Invalid occupancy rates</a:t>
            </a:r>
            <a:r>
              <a:rPr lang="en" sz="1500">
                <a:solidFill>
                  <a:schemeClr val="dk1"/>
                </a:solidFill>
              </a:rPr>
              <a:t> – I filtered for realistic values between 0 and 1 to get valid passenger insights.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 b="1">
                <a:solidFill>
                  <a:schemeClr val="dk1"/>
                </a:solidFill>
              </a:rPr>
              <a:t>Route directionality</a:t>
            </a:r>
            <a:r>
              <a:rPr lang="en" sz="1500">
                <a:solidFill>
                  <a:schemeClr val="dk1"/>
                </a:solidFill>
              </a:rPr>
              <a:t> – I treated each leg of a route separately; e.g., JFK→LAX isn’t automatically the same as LAX→JFK.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 b="1">
                <a:solidFill>
                  <a:schemeClr val="dk1"/>
                </a:solidFill>
              </a:rPr>
              <a:t>Delay outliers</a:t>
            </a:r>
            <a:r>
              <a:rPr lang="en" sz="1500">
                <a:solidFill>
                  <a:schemeClr val="dk1"/>
                </a:solidFill>
              </a:rPr>
              <a:t> – I removed extreme delays using z-scores (±3σ) so costs reflect reliable patterns.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These steps keep the analytics sound and the results actionable.”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09400" y="420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Cost and Revenue Assumptions:</a:t>
            </a:r>
            <a:endParaRPr b="1"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409400" y="1128050"/>
            <a:ext cx="8520600" cy="40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Costs: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$9.18 per mile (Fuel, Maintenance, Depreciation, etc.)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Airport fees: $5,000 (medium) / $10,000 (large) per landing → 2 charges per round trip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Delay cost: First 15 min free; $75/min after for both departures &amp; arrivals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Revenue: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200-seat plane × occupancy rate (from Flights data)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Baggage: 50% passengers × $35/leg = $70/round trip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Ticket prices constant year-round (no seasonal variation)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Top 5 Investment Routes</a:t>
            </a:r>
            <a:endParaRPr b="1"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41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lang="en" sz="1500" b="1">
                <a:solidFill>
                  <a:schemeClr val="dk1"/>
                </a:solidFill>
              </a:rPr>
              <a:t>ATL–GSP</a:t>
            </a:r>
            <a:r>
              <a:rPr lang="en" sz="1500">
                <a:solidFill>
                  <a:schemeClr val="dk1"/>
                </a:solidFill>
              </a:rPr>
              <a:t> – highest profit, punctual, frequent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lang="en" sz="1500" b="1">
                <a:solidFill>
                  <a:schemeClr val="dk1"/>
                </a:solidFill>
              </a:rPr>
              <a:t>ATL–PIT</a:t>
            </a:r>
            <a:r>
              <a:rPr lang="en" sz="1500">
                <a:solidFill>
                  <a:schemeClr val="dk1"/>
                </a:solidFill>
              </a:rPr>
              <a:t> – busy hub, strong ROI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lang="en" sz="1500" b="1">
                <a:solidFill>
                  <a:schemeClr val="dk1"/>
                </a:solidFill>
              </a:rPr>
              <a:t>ATL–ORF</a:t>
            </a:r>
            <a:r>
              <a:rPr lang="en" sz="1500">
                <a:solidFill>
                  <a:schemeClr val="dk1"/>
                </a:solidFill>
              </a:rPr>
              <a:t> – solid revenue with on-time performance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lang="en" sz="1500" b="1">
                <a:solidFill>
                  <a:schemeClr val="dk1"/>
                </a:solidFill>
              </a:rPr>
              <a:t>PHL–PVD</a:t>
            </a:r>
            <a:r>
              <a:rPr lang="en" sz="1500">
                <a:solidFill>
                  <a:schemeClr val="dk1"/>
                </a:solidFill>
              </a:rPr>
              <a:t> – efficient, profitable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lang="en" sz="1500" b="1">
                <a:solidFill>
                  <a:schemeClr val="dk1"/>
                </a:solidFill>
              </a:rPr>
              <a:t>BDL–PHL</a:t>
            </a:r>
            <a:r>
              <a:rPr lang="en" sz="1500">
                <a:solidFill>
                  <a:schemeClr val="dk1"/>
                </a:solidFill>
              </a:rPr>
              <a:t> – low volume but high reliability and margins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/>
          </a:p>
        </p:txBody>
      </p:sp>
      <p:pic>
        <p:nvPicPr>
          <p:cNvPr id="91" name="Google Shape;91;p19" title="Screenshot 2025-06-15 1215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25" y="2676900"/>
            <a:ext cx="9144000" cy="226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Most Busiest Round-Trips (Top 10)</a:t>
            </a:r>
            <a:endParaRPr b="1"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Identifies consistently high-demand routes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Serves as baseline for scheduling decisions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pic>
        <p:nvPicPr>
          <p:cNvPr id="98" name="Google Shape;98;p20" title="Screenshot 2025-05-29 1058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2015900"/>
            <a:ext cx="5924001" cy="293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Most Profitable Round-Trips (Top 10)</a:t>
            </a:r>
            <a:endParaRPr b="1"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43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Highlights high net-income routes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Reveals volume-profit disconnect.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pic>
        <p:nvPicPr>
          <p:cNvPr id="105" name="Google Shape;105;p21" title="Screenshot 2025-05-29 1058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675" y="1719725"/>
            <a:ext cx="7008424" cy="336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 Composite Analysis — Top 5</a:t>
            </a:r>
            <a:endParaRPr b="1"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Evaluates financial drivers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Shows cost considerations despite high revenue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12" name="Google Shape;112;p22" title="Screenshot 2025-05-29 1115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25" y="1860475"/>
            <a:ext cx="9144000" cy="29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Breakeven Summary:</a:t>
            </a:r>
            <a:endParaRPr b="1"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9" name="Google Shape;119;p23" title="Screenshot 2025-06-15 1152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3700"/>
            <a:ext cx="8671500" cy="35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Other Visualizations</a:t>
            </a:r>
            <a:endParaRPr b="1"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Line chart:</a:t>
            </a:r>
            <a:endParaRPr sz="1600" b="1">
              <a:solidFill>
                <a:schemeClr val="dk1"/>
              </a:solidFill>
            </a:endParaRPr>
          </a:p>
        </p:txBody>
      </p:sp>
      <p:pic>
        <p:nvPicPr>
          <p:cNvPr id="126" name="Google Shape;126;p24" title="Screenshot 2025-06-15 1150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74925"/>
            <a:ext cx="7545799" cy="354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5" title="Screenshot 2025-06-15 1151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00" y="655325"/>
            <a:ext cx="7298400" cy="43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1635325" y="165750"/>
            <a:ext cx="50841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2"/>
                </a:solidFill>
              </a:rPr>
              <a:t>Heatmap</a:t>
            </a:r>
            <a:endParaRPr sz="22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1570210" y="54400"/>
            <a:ext cx="60036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</a:rPr>
              <a:t>Scatter plot</a:t>
            </a:r>
            <a:endParaRPr sz="2500" b="1">
              <a:solidFill>
                <a:schemeClr val="dk1"/>
              </a:solidFill>
            </a:endParaRPr>
          </a:p>
        </p:txBody>
      </p:sp>
      <p:pic>
        <p:nvPicPr>
          <p:cNvPr id="144" name="Google Shape;144;p27" title="Screenshot 2025-06-15 1152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425" y="734800"/>
            <a:ext cx="6846001" cy="431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 b="1"/>
              <a:t>Final Summary &amp; recommended KPIs</a:t>
            </a:r>
            <a:endParaRPr sz="2420" b="1"/>
          </a:p>
        </p:txBody>
      </p:sp>
      <p:sp>
        <p:nvSpPr>
          <p:cNvPr id="150" name="Google Shape;150;p28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40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3057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45"/>
              <a:buChar char="●"/>
            </a:pPr>
            <a:r>
              <a:rPr lang="en" sz="1425" b="1">
                <a:solidFill>
                  <a:schemeClr val="dk1"/>
                </a:solidFill>
              </a:rPr>
              <a:t>My Key Conclusions:</a:t>
            </a:r>
            <a:endParaRPr sz="1425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25">
                <a:solidFill>
                  <a:schemeClr val="dk1"/>
                </a:solidFill>
              </a:rPr>
              <a:t>a)</a:t>
            </a:r>
            <a:r>
              <a:rPr lang="en" sz="1005">
                <a:solidFill>
                  <a:schemeClr val="dk1"/>
                </a:solidFill>
              </a:rPr>
              <a:t>       </a:t>
            </a:r>
            <a:r>
              <a:rPr lang="en" sz="1425">
                <a:solidFill>
                  <a:schemeClr val="dk1"/>
                </a:solidFill>
              </a:rPr>
              <a:t>High flight volume does not always correlate with high profit.</a:t>
            </a:r>
            <a:endParaRPr sz="1425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425">
                <a:solidFill>
                  <a:schemeClr val="dk1"/>
                </a:solidFill>
              </a:rPr>
              <a:t>b)</a:t>
            </a:r>
            <a:r>
              <a:rPr lang="en" sz="1205">
                <a:solidFill>
                  <a:schemeClr val="dk1"/>
                </a:solidFill>
              </a:rPr>
              <a:t>       </a:t>
            </a:r>
            <a:r>
              <a:rPr lang="en" sz="1425">
                <a:solidFill>
                  <a:schemeClr val="dk1"/>
                </a:solidFill>
              </a:rPr>
              <a:t>Delay trends and cost structures are critical in route evaluation—not just ticket revenue.</a:t>
            </a:r>
            <a:endParaRPr sz="1425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425">
                <a:solidFill>
                  <a:schemeClr val="dk1"/>
                </a:solidFill>
              </a:rPr>
              <a:t>c)</a:t>
            </a:r>
            <a:r>
              <a:rPr lang="en" sz="1205">
                <a:solidFill>
                  <a:schemeClr val="dk1"/>
                </a:solidFill>
              </a:rPr>
              <a:t>       </a:t>
            </a:r>
            <a:r>
              <a:rPr lang="en" sz="1425">
                <a:solidFill>
                  <a:schemeClr val="dk1"/>
                </a:solidFill>
              </a:rPr>
              <a:t>Only a handful of routes deliver disproportionately higher ROI, and they should be prioritized.</a:t>
            </a:r>
            <a:endParaRPr sz="1645" b="1">
              <a:solidFill>
                <a:schemeClr val="dk1"/>
              </a:solidFill>
            </a:endParaRPr>
          </a:p>
          <a:p>
            <a:pPr marL="457200" lvl="0" indent="-33026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1"/>
              <a:buChar char="●"/>
            </a:pPr>
            <a:r>
              <a:rPr lang="en" sz="1381" b="1">
                <a:solidFill>
                  <a:schemeClr val="dk1"/>
                </a:solidFill>
              </a:rPr>
              <a:t>Net Profit per Route:</a:t>
            </a:r>
            <a:r>
              <a:rPr lang="en" sz="1381">
                <a:solidFill>
                  <a:schemeClr val="dk1"/>
                </a:solidFill>
              </a:rPr>
              <a:t> Monitor route profitability over time</a:t>
            </a:r>
            <a:br>
              <a:rPr lang="en" sz="1381">
                <a:solidFill>
                  <a:schemeClr val="dk1"/>
                </a:solidFill>
              </a:rPr>
            </a:br>
            <a:endParaRPr sz="1381">
              <a:solidFill>
                <a:schemeClr val="dk1"/>
              </a:solidFill>
            </a:endParaRPr>
          </a:p>
          <a:p>
            <a:pPr marL="457200" lvl="0" indent="-33026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1"/>
              <a:buChar char="●"/>
            </a:pPr>
            <a:r>
              <a:rPr lang="en" sz="1381" b="1">
                <a:solidFill>
                  <a:schemeClr val="dk1"/>
                </a:solidFill>
              </a:rPr>
              <a:t>Flights to Breakeven:</a:t>
            </a:r>
            <a:r>
              <a:rPr lang="en" sz="1381">
                <a:solidFill>
                  <a:schemeClr val="dk1"/>
                </a:solidFill>
              </a:rPr>
              <a:t> Know how many flights to recover aircraft cost</a:t>
            </a:r>
            <a:br>
              <a:rPr lang="en" sz="1381">
                <a:solidFill>
                  <a:schemeClr val="dk1"/>
                </a:solidFill>
              </a:rPr>
            </a:br>
            <a:endParaRPr sz="1381">
              <a:solidFill>
                <a:schemeClr val="dk1"/>
              </a:solidFill>
            </a:endParaRPr>
          </a:p>
          <a:p>
            <a:pPr marL="457200" lvl="0" indent="-33026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1"/>
              <a:buChar char="●"/>
            </a:pPr>
            <a:r>
              <a:rPr lang="en" sz="1381" b="1">
                <a:solidFill>
                  <a:schemeClr val="dk1"/>
                </a:solidFill>
              </a:rPr>
              <a:t>Delay Frequency &amp; Avg Delay:</a:t>
            </a:r>
            <a:r>
              <a:rPr lang="en" sz="1381">
                <a:solidFill>
                  <a:schemeClr val="dk1"/>
                </a:solidFill>
              </a:rPr>
              <a:t> Identify cost-heavy or inefficient routes</a:t>
            </a:r>
            <a:br>
              <a:rPr lang="en" sz="1381">
                <a:solidFill>
                  <a:schemeClr val="dk1"/>
                </a:solidFill>
              </a:rPr>
            </a:br>
            <a:endParaRPr sz="1381">
              <a:solidFill>
                <a:schemeClr val="dk1"/>
              </a:solidFill>
            </a:endParaRPr>
          </a:p>
          <a:p>
            <a:pPr marL="457200" lvl="0" indent="-33026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1"/>
              <a:buChar char="●"/>
            </a:pPr>
            <a:r>
              <a:rPr lang="en" sz="1381" b="1">
                <a:solidFill>
                  <a:schemeClr val="dk1"/>
                </a:solidFill>
              </a:rPr>
              <a:t>Load Factor (Occupancy):</a:t>
            </a:r>
            <a:r>
              <a:rPr lang="en" sz="1381">
                <a:solidFill>
                  <a:schemeClr val="dk1"/>
                </a:solidFill>
              </a:rPr>
              <a:t> Measure how full and efficient flights are</a:t>
            </a:r>
            <a:br>
              <a:rPr lang="en" sz="1381">
                <a:solidFill>
                  <a:schemeClr val="dk1"/>
                </a:solidFill>
              </a:rPr>
            </a:br>
            <a:endParaRPr sz="1381">
              <a:solidFill>
                <a:schemeClr val="dk1"/>
              </a:solidFill>
            </a:endParaRPr>
          </a:p>
          <a:p>
            <a:pPr marL="457200" lvl="0" indent="-33026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1"/>
              <a:buChar char="●"/>
            </a:pPr>
            <a:r>
              <a:rPr lang="en" sz="1381" b="1">
                <a:solidFill>
                  <a:schemeClr val="dk1"/>
                </a:solidFill>
              </a:rPr>
              <a:t>Ancillary Revenue per Passenger:</a:t>
            </a:r>
            <a:r>
              <a:rPr lang="en" sz="1381">
                <a:solidFill>
                  <a:schemeClr val="dk1"/>
                </a:solidFill>
              </a:rPr>
              <a:t> Track extra income like baggage fees</a:t>
            </a:r>
            <a:endParaRPr sz="138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25" b="1">
                <a:solidFill>
                  <a:schemeClr val="dk1"/>
                </a:solidFill>
              </a:rPr>
            </a:br>
            <a:br>
              <a:rPr lang="en" sz="1225" b="1">
                <a:solidFill>
                  <a:schemeClr val="dk1"/>
                </a:solidFill>
              </a:rPr>
            </a:br>
            <a:endParaRPr sz="1225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144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430" b="1"/>
              <a:t> Suggested Improvements</a:t>
            </a:r>
            <a:endParaRPr sz="2430" b="1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SzPts val="990"/>
              <a:buNone/>
            </a:pPr>
            <a:endParaRPr sz="3420"/>
          </a:p>
        </p:txBody>
      </p:sp>
      <p:sp>
        <p:nvSpPr>
          <p:cNvPr id="156" name="Google Shape;156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600">
                <a:solidFill>
                  <a:schemeClr val="dk1"/>
                </a:solidFill>
              </a:rPr>
              <a:t>Trim outliers in all numeric fields</a:t>
            </a:r>
            <a:endParaRPr sz="16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600">
                <a:solidFill>
                  <a:schemeClr val="dk1"/>
                </a:solidFill>
              </a:rPr>
              <a:t>Use median and IQR alongside means</a:t>
            </a:r>
            <a:endParaRPr sz="16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600">
                <a:solidFill>
                  <a:schemeClr val="dk1"/>
                </a:solidFill>
              </a:rPr>
              <a:t>Adjust for seasonality &amp; day-of-week effects</a:t>
            </a:r>
            <a:endParaRPr sz="16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600">
                <a:solidFill>
                  <a:schemeClr val="dk1"/>
                </a:solidFill>
              </a:rPr>
              <a:t>Normalize profitability per flight and mile</a:t>
            </a:r>
            <a:endParaRPr sz="16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600">
                <a:solidFill>
                  <a:schemeClr val="dk1"/>
                </a:solidFill>
              </a:rPr>
              <a:t>Account for aircraft type and cost</a:t>
            </a:r>
            <a:endParaRPr sz="16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600">
                <a:solidFill>
                  <a:schemeClr val="dk1"/>
                </a:solidFill>
              </a:rPr>
              <a:t>Validate data quality</a:t>
            </a:r>
            <a:endParaRPr sz="20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600">
                <a:solidFill>
                  <a:schemeClr val="dk1"/>
                </a:solidFill>
              </a:rPr>
              <a:t>Run “what-if” sensitivity analyses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Technical Workflow</a:t>
            </a:r>
            <a:endParaRPr b="1"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</a:rPr>
              <a:t>1)Clean datasets -&gt; flights_df, airport_df, tickets_df etc.</a:t>
            </a:r>
            <a:endParaRPr sz="156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</a:rPr>
              <a:t>2)Join airport data -&gt; flights_enriched</a:t>
            </a:r>
            <a:endParaRPr sz="156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</a:rPr>
              <a:t>3)Compute financials and concatenated it with flights_enriched</a:t>
            </a:r>
            <a:endParaRPr sz="156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</a:rPr>
              <a:t>4)Run route summaries:</a:t>
            </a:r>
            <a:endParaRPr sz="1565">
              <a:solidFill>
                <a:schemeClr val="dk1"/>
              </a:solidFill>
            </a:endParaRPr>
          </a:p>
          <a:p>
            <a:pPr marL="457200" lvl="0" indent="-327977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65"/>
              <a:buChar char="-"/>
            </a:pPr>
            <a:r>
              <a:rPr lang="en" sz="1565">
                <a:solidFill>
                  <a:schemeClr val="dk1"/>
                </a:solidFill>
              </a:rPr>
              <a:t>a) busiest</a:t>
            </a:r>
            <a:endParaRPr sz="1565">
              <a:solidFill>
                <a:schemeClr val="dk1"/>
              </a:solidFill>
            </a:endParaRPr>
          </a:p>
          <a:p>
            <a:pPr marL="457200" lvl="0" indent="-32797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5"/>
              <a:buChar char="-"/>
            </a:pPr>
            <a:r>
              <a:rPr lang="en" sz="1565">
                <a:solidFill>
                  <a:schemeClr val="dk1"/>
                </a:solidFill>
              </a:rPr>
              <a:t>b) profitable</a:t>
            </a:r>
            <a:endParaRPr sz="1565">
              <a:solidFill>
                <a:schemeClr val="dk1"/>
              </a:solidFill>
            </a:endParaRPr>
          </a:p>
          <a:p>
            <a:pPr marL="457200" lvl="0" indent="-32797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5"/>
              <a:buChar char="-"/>
            </a:pPr>
            <a:r>
              <a:rPr lang="en" sz="1565">
                <a:solidFill>
                  <a:schemeClr val="dk1"/>
                </a:solidFill>
              </a:rPr>
              <a:t>c) investment</a:t>
            </a:r>
            <a:endParaRPr sz="1565">
              <a:solidFill>
                <a:schemeClr val="dk1"/>
              </a:solidFill>
            </a:endParaRPr>
          </a:p>
          <a:p>
            <a:pPr marL="457200" lvl="0" indent="-32797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5"/>
              <a:buChar char="-"/>
            </a:pPr>
            <a:r>
              <a:rPr lang="en" sz="1565">
                <a:solidFill>
                  <a:schemeClr val="dk1"/>
                </a:solidFill>
              </a:rPr>
              <a:t>d) breakeven</a:t>
            </a:r>
            <a:endParaRPr sz="156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</a:rPr>
              <a:t>5)Passed each output to its respective plot function in matplotlib and seaborn and made other visualisations for analysis and insights in the python code file.</a:t>
            </a:r>
            <a:endParaRPr sz="15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465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Summary &amp; Final Recommendations</a:t>
            </a:r>
            <a:endParaRPr b="1"/>
          </a:p>
        </p:txBody>
      </p:sp>
      <p:sp>
        <p:nvSpPr>
          <p:cNvPr id="168" name="Google Shape;168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797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5"/>
              <a:buChar char="-"/>
            </a:pPr>
            <a:r>
              <a:rPr lang="en" sz="1565" dirty="0">
                <a:solidFill>
                  <a:schemeClr val="dk1"/>
                </a:solidFill>
              </a:rPr>
              <a:t>Volume isn’t always profit — focus on ROI</a:t>
            </a:r>
            <a:endParaRPr sz="1565" dirty="0">
              <a:solidFill>
                <a:schemeClr val="dk1"/>
              </a:solidFill>
            </a:endParaRPr>
          </a:p>
          <a:p>
            <a:pPr marL="457200" lvl="0" indent="-32797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5"/>
              <a:buChar char="-"/>
            </a:pPr>
            <a:r>
              <a:rPr lang="en" sz="1565" dirty="0">
                <a:solidFill>
                  <a:schemeClr val="dk1"/>
                </a:solidFill>
              </a:rPr>
              <a:t>Delay/cost structure are critical for evaluation</a:t>
            </a:r>
            <a:endParaRPr sz="1565" dirty="0">
              <a:solidFill>
                <a:schemeClr val="dk1"/>
              </a:solidFill>
            </a:endParaRPr>
          </a:p>
          <a:p>
            <a:pPr marL="457200" lvl="0" indent="-32797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5"/>
              <a:buChar char="-"/>
            </a:pPr>
            <a:r>
              <a:rPr lang="en" sz="1565" dirty="0">
                <a:solidFill>
                  <a:schemeClr val="dk1"/>
                </a:solidFill>
              </a:rPr>
              <a:t>Invest in top‑5 high-ROI routes(top 5 investment routes)</a:t>
            </a:r>
            <a:endParaRPr sz="1565" dirty="0">
              <a:solidFill>
                <a:schemeClr val="dk1"/>
              </a:solidFill>
            </a:endParaRPr>
          </a:p>
          <a:p>
            <a:pPr marL="457200" lvl="0" indent="-32797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5"/>
              <a:buChar char="-"/>
            </a:pPr>
            <a:r>
              <a:rPr lang="en" sz="1565" dirty="0">
                <a:solidFill>
                  <a:schemeClr val="dk1"/>
                </a:solidFill>
              </a:rPr>
              <a:t>Implement KPIs, monitor variance, test assumptions</a:t>
            </a:r>
            <a:endParaRPr sz="1565" dirty="0">
              <a:solidFill>
                <a:schemeClr val="dk1"/>
              </a:solidFill>
            </a:endParaRPr>
          </a:p>
          <a:p>
            <a:pPr marL="457200" lvl="0" indent="-32797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5"/>
              <a:buChar char="-"/>
            </a:pPr>
            <a:r>
              <a:rPr lang="en" sz="1565" dirty="0">
                <a:solidFill>
                  <a:schemeClr val="dk1"/>
                </a:solidFill>
              </a:rPr>
              <a:t>Continue data validation, seasonal adjustment, and sensitivity testing</a:t>
            </a:r>
            <a:endParaRPr sz="1565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365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/>
              <a:t>Q</a:t>
            </a:r>
            <a:r>
              <a:rPr lang="en" sz="3600" b="1" dirty="0"/>
              <a:t>&amp;A</a:t>
            </a:r>
            <a:endParaRPr sz="4700" b="1" dirty="0"/>
          </a:p>
        </p:txBody>
      </p:sp>
      <p:sp>
        <p:nvSpPr>
          <p:cNvPr id="174" name="Google Shape;174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00" b="1">
              <a:solidFill>
                <a:schemeClr val="dk1"/>
              </a:solidFill>
            </a:endParaRPr>
          </a:p>
          <a:p>
            <a:pPr marL="2743200" lvl="0" indent="457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100" b="1">
                <a:solidFill>
                  <a:schemeClr val="dk1"/>
                </a:solidFill>
              </a:rPr>
              <a:t>Thank you!</a:t>
            </a:r>
            <a:endParaRPr sz="31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100" i="1">
                <a:solidFill>
                  <a:schemeClr val="dk1"/>
                </a:solidFill>
              </a:rPr>
              <a:t>Open to any questions or deeper dives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785</Words>
  <Application>Microsoft Office PowerPoint</Application>
  <PresentationFormat>On-screen Show (16:9)</PresentationFormat>
  <Paragraphs>102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Simple Light</vt:lpstr>
      <vt:lpstr> Airline Data Challenge   Presented by: Sathvika Anugu  Purpose: Showcase data-driven route analysis, quality control, and investment recommendations. </vt:lpstr>
      <vt:lpstr>Agenda</vt:lpstr>
      <vt:lpstr>Project Objectives</vt:lpstr>
      <vt:lpstr>Key Derived Metrics</vt:lpstr>
      <vt:lpstr>Data Quality Issues:</vt:lpstr>
      <vt:lpstr>Cost and Revenue Assumptions:</vt:lpstr>
      <vt:lpstr>Top 5 Investment Routes</vt:lpstr>
      <vt:lpstr>Most Busiest Round-Trips (Top 10)</vt:lpstr>
      <vt:lpstr>Most Profitable Round-Trips (Top 10)</vt:lpstr>
      <vt:lpstr> Composite Analysis — Top 5</vt:lpstr>
      <vt:lpstr>Breakeven Summary:</vt:lpstr>
      <vt:lpstr>Other Visualizations</vt:lpstr>
      <vt:lpstr>PowerPoint Presentation</vt:lpstr>
      <vt:lpstr>PowerPoint Presentation</vt:lpstr>
      <vt:lpstr>Final Summary &amp; recommended KPIs</vt:lpstr>
      <vt:lpstr> Suggested Improvements </vt:lpstr>
      <vt:lpstr>Technical Workflow</vt:lpstr>
      <vt:lpstr>Summary &amp; Final Recommendations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sathvika reddy</cp:lastModifiedBy>
  <cp:revision>2</cp:revision>
  <dcterms:modified xsi:type="dcterms:W3CDTF">2025-06-16T12:21:53Z</dcterms:modified>
</cp:coreProperties>
</file>